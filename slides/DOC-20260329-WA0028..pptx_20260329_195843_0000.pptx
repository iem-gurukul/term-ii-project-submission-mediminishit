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 Bold" charset="1" panose="00000800000000000000"/>
      <p:regular r:id="rId19"/>
    </p:embeddedFont>
    <p:embeddedFont>
      <p:font typeface="Source Sans 3 Bold" charset="1" panose="020B0303030403020204"/>
      <p:regular r:id="rId20"/>
    </p:embeddedFont>
    <p:embeddedFont>
      <p:font typeface="Source Sans 3" charset="1" panose="020B0303030403020204"/>
      <p:regular r:id="rId21"/>
    </p:embeddedFont>
    <p:embeddedFont>
      <p:font typeface="Montserrat Light" charset="1" panose="000004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37744" y="2560882"/>
            <a:ext cx="9270502" cy="178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Hotel Reservation Management 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37744" y="4729162"/>
            <a:ext cx="9270502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Course: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Object-Oriented Programming using Java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37744" y="5538940"/>
            <a:ext cx="9270502" cy="892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2375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Submitted by: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Medimi Nishit Kumar (Roll No: 63)</a:t>
            </a:r>
          </a:p>
          <a:p>
            <a:pPr algn="l">
              <a:lnSpc>
                <a:spcPts val="3625"/>
              </a:lnSpc>
            </a:pPr>
            <a:r>
              <a:rPr lang="en-US" sz="2375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Enrollment No.: 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12024052017065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37744" y="6525371"/>
            <a:ext cx="9270502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Instructor: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Dr. Soumadip Biswas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37744" y="7158485"/>
            <a:ext cx="9270502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Session: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Spring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1045369"/>
            <a:ext cx="7012191" cy="90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79744" y="2567578"/>
            <a:ext cx="7909922" cy="2937119"/>
            <a:chOff x="0" y="0"/>
            <a:chExt cx="10546563" cy="39161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46588" cy="3916172"/>
            </a:xfrm>
            <a:custGeom>
              <a:avLst/>
              <a:gdLst/>
              <a:ahLst/>
              <a:cxnLst/>
              <a:rect r="r" b="b" t="t" l="l"/>
              <a:pathLst>
                <a:path h="3916172" w="10546588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10484866" y="0"/>
                  </a:lnTo>
                  <a:cubicBezTo>
                    <a:pt x="10518902" y="0"/>
                    <a:pt x="10546588" y="27686"/>
                    <a:pt x="10546588" y="61722"/>
                  </a:cubicBezTo>
                  <a:lnTo>
                    <a:pt x="10546588" y="3854450"/>
                  </a:lnTo>
                  <a:cubicBezTo>
                    <a:pt x="10546588" y="3888486"/>
                    <a:pt x="10518902" y="3916172"/>
                    <a:pt x="10484866" y="3916172"/>
                  </a:cubicBezTo>
                  <a:lnTo>
                    <a:pt x="61722" y="3916172"/>
                  </a:lnTo>
                  <a:cubicBezTo>
                    <a:pt x="27686" y="3916172"/>
                    <a:pt x="0" y="3888486"/>
                    <a:pt x="0" y="3854450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88269" y="2876102"/>
            <a:ext cx="925563" cy="925563"/>
            <a:chOff x="0" y="0"/>
            <a:chExt cx="1234084" cy="12340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34059" cy="1234059"/>
            </a:xfrm>
            <a:custGeom>
              <a:avLst/>
              <a:gdLst/>
              <a:ahLst/>
              <a:cxnLst/>
              <a:rect r="r" b="b" t="t" l="l"/>
              <a:pathLst>
                <a:path h="1234059" w="1234059">
                  <a:moveTo>
                    <a:pt x="0" y="617093"/>
                  </a:moveTo>
                  <a:cubicBezTo>
                    <a:pt x="0" y="276225"/>
                    <a:pt x="276225" y="0"/>
                    <a:pt x="617093" y="0"/>
                  </a:cubicBezTo>
                  <a:cubicBezTo>
                    <a:pt x="957961" y="0"/>
                    <a:pt x="1234059" y="276225"/>
                    <a:pt x="1234059" y="617093"/>
                  </a:cubicBezTo>
                  <a:cubicBezTo>
                    <a:pt x="1234059" y="957961"/>
                    <a:pt x="957834" y="1234059"/>
                    <a:pt x="617093" y="1234059"/>
                  </a:cubicBezTo>
                  <a:cubicBezTo>
                    <a:pt x="276352" y="1234059"/>
                    <a:pt x="0" y="957834"/>
                    <a:pt x="0" y="61709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1642767" y="3130601"/>
            <a:ext cx="416423" cy="416423"/>
          </a:xfrm>
          <a:custGeom>
            <a:avLst/>
            <a:gdLst/>
            <a:ahLst/>
            <a:cxnLst/>
            <a:rect r="r" b="b" t="t" l="l"/>
            <a:pathLst>
              <a:path h="416423" w="416423">
                <a:moveTo>
                  <a:pt x="0" y="0"/>
                </a:moveTo>
                <a:lnTo>
                  <a:pt x="416424" y="0"/>
                </a:lnTo>
                <a:lnTo>
                  <a:pt x="416424" y="416423"/>
                </a:lnTo>
                <a:lnTo>
                  <a:pt x="0" y="4164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3408" t="0" r="-341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88269" y="4091140"/>
            <a:ext cx="4185199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Console-Based System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88269" y="4657277"/>
            <a:ext cx="7292873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 text-based interface for hotel management operations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98191" y="2567578"/>
            <a:ext cx="7910065" cy="2937119"/>
            <a:chOff x="0" y="0"/>
            <a:chExt cx="10546753" cy="391615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46715" cy="3916172"/>
            </a:xfrm>
            <a:custGeom>
              <a:avLst/>
              <a:gdLst/>
              <a:ahLst/>
              <a:cxnLst/>
              <a:rect r="r" b="b" t="t" l="l"/>
              <a:pathLst>
                <a:path h="3916172" w="10546715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10484993" y="0"/>
                  </a:lnTo>
                  <a:cubicBezTo>
                    <a:pt x="10519029" y="0"/>
                    <a:pt x="10546715" y="27686"/>
                    <a:pt x="10546715" y="61722"/>
                  </a:cubicBezTo>
                  <a:lnTo>
                    <a:pt x="10546715" y="3854450"/>
                  </a:lnTo>
                  <a:cubicBezTo>
                    <a:pt x="10546715" y="3888486"/>
                    <a:pt x="10519029" y="3916172"/>
                    <a:pt x="10484993" y="3916172"/>
                  </a:cubicBezTo>
                  <a:lnTo>
                    <a:pt x="61722" y="3916172"/>
                  </a:lnTo>
                  <a:cubicBezTo>
                    <a:pt x="27686" y="3916172"/>
                    <a:pt x="0" y="3888486"/>
                    <a:pt x="0" y="3854450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606705" y="2876102"/>
            <a:ext cx="925563" cy="925563"/>
            <a:chOff x="0" y="0"/>
            <a:chExt cx="1234084" cy="12340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34059" cy="1234059"/>
            </a:xfrm>
            <a:custGeom>
              <a:avLst/>
              <a:gdLst/>
              <a:ahLst/>
              <a:cxnLst/>
              <a:rect r="r" b="b" t="t" l="l"/>
              <a:pathLst>
                <a:path h="1234059" w="1234059">
                  <a:moveTo>
                    <a:pt x="0" y="617093"/>
                  </a:moveTo>
                  <a:cubicBezTo>
                    <a:pt x="0" y="276225"/>
                    <a:pt x="276225" y="0"/>
                    <a:pt x="617093" y="0"/>
                  </a:cubicBezTo>
                  <a:cubicBezTo>
                    <a:pt x="957961" y="0"/>
                    <a:pt x="1234059" y="276225"/>
                    <a:pt x="1234059" y="617093"/>
                  </a:cubicBezTo>
                  <a:cubicBezTo>
                    <a:pt x="1234059" y="957961"/>
                    <a:pt x="957834" y="1234059"/>
                    <a:pt x="617093" y="1234059"/>
                  </a:cubicBezTo>
                  <a:cubicBezTo>
                    <a:pt x="276352" y="1234059"/>
                    <a:pt x="0" y="957834"/>
                    <a:pt x="0" y="61709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9861204" y="3130601"/>
            <a:ext cx="416423" cy="416423"/>
          </a:xfrm>
          <a:custGeom>
            <a:avLst/>
            <a:gdLst/>
            <a:ahLst/>
            <a:cxnLst/>
            <a:rect r="r" b="b" t="t" l="l"/>
            <a:pathLst>
              <a:path h="416423" w="416423">
                <a:moveTo>
                  <a:pt x="0" y="0"/>
                </a:moveTo>
                <a:lnTo>
                  <a:pt x="416423" y="0"/>
                </a:lnTo>
                <a:lnTo>
                  <a:pt x="416423" y="416423"/>
                </a:lnTo>
                <a:lnTo>
                  <a:pt x="0" y="4164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7045" r="0" b="-17045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606705" y="4091140"/>
            <a:ext cx="3684832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Java OOP Principles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06705" y="4657277"/>
            <a:ext cx="7293026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Built using object-oriented programming paradigms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79744" y="5813222"/>
            <a:ext cx="7909922" cy="3399834"/>
            <a:chOff x="0" y="0"/>
            <a:chExt cx="10546563" cy="453311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46588" cy="4533138"/>
            </a:xfrm>
            <a:custGeom>
              <a:avLst/>
              <a:gdLst/>
              <a:ahLst/>
              <a:cxnLst/>
              <a:rect r="r" b="b" t="t" l="l"/>
              <a:pathLst>
                <a:path h="4533138" w="10546588">
                  <a:moveTo>
                    <a:pt x="0" y="61722"/>
                  </a:moveTo>
                  <a:cubicBezTo>
                    <a:pt x="0" y="27559"/>
                    <a:pt x="27559" y="0"/>
                    <a:pt x="61722" y="0"/>
                  </a:cubicBezTo>
                  <a:lnTo>
                    <a:pt x="10484866" y="0"/>
                  </a:lnTo>
                  <a:cubicBezTo>
                    <a:pt x="10518902" y="0"/>
                    <a:pt x="10546588" y="27559"/>
                    <a:pt x="10546588" y="61722"/>
                  </a:cubicBezTo>
                  <a:lnTo>
                    <a:pt x="10546588" y="4471416"/>
                  </a:lnTo>
                  <a:cubicBezTo>
                    <a:pt x="10546588" y="4505452"/>
                    <a:pt x="10519029" y="4533138"/>
                    <a:pt x="10484866" y="4533138"/>
                  </a:cubicBezTo>
                  <a:lnTo>
                    <a:pt x="61722" y="4533138"/>
                  </a:lnTo>
                  <a:cubicBezTo>
                    <a:pt x="27686" y="4533138"/>
                    <a:pt x="0" y="4505579"/>
                    <a:pt x="0" y="4471416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88269" y="6121746"/>
            <a:ext cx="925563" cy="925563"/>
            <a:chOff x="0" y="0"/>
            <a:chExt cx="1234084" cy="12340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34059" cy="1234059"/>
            </a:xfrm>
            <a:custGeom>
              <a:avLst/>
              <a:gdLst/>
              <a:ahLst/>
              <a:cxnLst/>
              <a:rect r="r" b="b" t="t" l="l"/>
              <a:pathLst>
                <a:path h="1234059" w="1234059">
                  <a:moveTo>
                    <a:pt x="0" y="617093"/>
                  </a:moveTo>
                  <a:cubicBezTo>
                    <a:pt x="0" y="276225"/>
                    <a:pt x="276225" y="0"/>
                    <a:pt x="617093" y="0"/>
                  </a:cubicBezTo>
                  <a:cubicBezTo>
                    <a:pt x="957961" y="0"/>
                    <a:pt x="1234059" y="276225"/>
                    <a:pt x="1234059" y="617093"/>
                  </a:cubicBezTo>
                  <a:cubicBezTo>
                    <a:pt x="1234059" y="957961"/>
                    <a:pt x="957834" y="1234059"/>
                    <a:pt x="617093" y="1234059"/>
                  </a:cubicBezTo>
                  <a:cubicBezTo>
                    <a:pt x="276352" y="1234059"/>
                    <a:pt x="0" y="957834"/>
                    <a:pt x="0" y="61709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5" id="25" descr="preencoded.png"/>
          <p:cNvSpPr/>
          <p:nvPr/>
        </p:nvSpPr>
        <p:spPr>
          <a:xfrm flipH="false" flipV="false" rot="0">
            <a:off x="1642767" y="6376245"/>
            <a:ext cx="416423" cy="416423"/>
          </a:xfrm>
          <a:custGeom>
            <a:avLst/>
            <a:gdLst/>
            <a:ahLst/>
            <a:cxnLst/>
            <a:rect r="r" b="b" t="t" l="l"/>
            <a:pathLst>
              <a:path h="416423" w="416423">
                <a:moveTo>
                  <a:pt x="0" y="0"/>
                </a:moveTo>
                <a:lnTo>
                  <a:pt x="416424" y="0"/>
                </a:lnTo>
                <a:lnTo>
                  <a:pt x="416424" y="416423"/>
                </a:lnTo>
                <a:lnTo>
                  <a:pt x="0" y="4164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388269" y="7336784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 Functionality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88269" y="7902921"/>
            <a:ext cx="7292873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Automates room booking, guest management, and billing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98191" y="5813222"/>
            <a:ext cx="7910065" cy="3399834"/>
            <a:chOff x="0" y="0"/>
            <a:chExt cx="10546753" cy="453311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546842" cy="4533138"/>
            </a:xfrm>
            <a:custGeom>
              <a:avLst/>
              <a:gdLst/>
              <a:ahLst/>
              <a:cxnLst/>
              <a:rect r="r" b="b" t="t" l="l"/>
              <a:pathLst>
                <a:path h="4533138" w="10546842">
                  <a:moveTo>
                    <a:pt x="0" y="61722"/>
                  </a:moveTo>
                  <a:cubicBezTo>
                    <a:pt x="0" y="27559"/>
                    <a:pt x="27559" y="0"/>
                    <a:pt x="61722" y="0"/>
                  </a:cubicBezTo>
                  <a:lnTo>
                    <a:pt x="10485120" y="0"/>
                  </a:lnTo>
                  <a:cubicBezTo>
                    <a:pt x="10519156" y="0"/>
                    <a:pt x="10546842" y="27559"/>
                    <a:pt x="10546842" y="61722"/>
                  </a:cubicBezTo>
                  <a:lnTo>
                    <a:pt x="10546842" y="4471416"/>
                  </a:lnTo>
                  <a:cubicBezTo>
                    <a:pt x="10546842" y="4505452"/>
                    <a:pt x="10519283" y="4533138"/>
                    <a:pt x="10485120" y="4533138"/>
                  </a:cubicBezTo>
                  <a:lnTo>
                    <a:pt x="61722" y="4533138"/>
                  </a:lnTo>
                  <a:cubicBezTo>
                    <a:pt x="27686" y="4533138"/>
                    <a:pt x="0" y="4505579"/>
                    <a:pt x="0" y="4471416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606705" y="6121746"/>
            <a:ext cx="925563" cy="925563"/>
            <a:chOff x="0" y="0"/>
            <a:chExt cx="1234084" cy="123408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34059" cy="1234059"/>
            </a:xfrm>
            <a:custGeom>
              <a:avLst/>
              <a:gdLst/>
              <a:ahLst/>
              <a:cxnLst/>
              <a:rect r="r" b="b" t="t" l="l"/>
              <a:pathLst>
                <a:path h="1234059" w="1234059">
                  <a:moveTo>
                    <a:pt x="0" y="617093"/>
                  </a:moveTo>
                  <a:cubicBezTo>
                    <a:pt x="0" y="276225"/>
                    <a:pt x="276225" y="0"/>
                    <a:pt x="617093" y="0"/>
                  </a:cubicBezTo>
                  <a:cubicBezTo>
                    <a:pt x="957961" y="0"/>
                    <a:pt x="1234059" y="276225"/>
                    <a:pt x="1234059" y="617093"/>
                  </a:cubicBezTo>
                  <a:cubicBezTo>
                    <a:pt x="1234059" y="957961"/>
                    <a:pt x="957834" y="1234059"/>
                    <a:pt x="617093" y="1234059"/>
                  </a:cubicBezTo>
                  <a:cubicBezTo>
                    <a:pt x="276352" y="1234059"/>
                    <a:pt x="0" y="957834"/>
                    <a:pt x="0" y="61709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9861204" y="6376245"/>
            <a:ext cx="416423" cy="416423"/>
          </a:xfrm>
          <a:custGeom>
            <a:avLst/>
            <a:gdLst/>
            <a:ahLst/>
            <a:cxnLst/>
            <a:rect r="r" b="b" t="t" l="l"/>
            <a:pathLst>
              <a:path h="416423" w="416423">
                <a:moveTo>
                  <a:pt x="0" y="0"/>
                </a:moveTo>
                <a:lnTo>
                  <a:pt x="416423" y="0"/>
                </a:lnTo>
                <a:lnTo>
                  <a:pt x="416423" y="416423"/>
                </a:lnTo>
                <a:lnTo>
                  <a:pt x="0" y="4164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9606705" y="7336784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Target Users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606705" y="7902921"/>
            <a:ext cx="7293026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Designed for small-scale hotels and guest houses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66057" y="823912"/>
            <a:ext cx="7117109" cy="90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6057" y="2261740"/>
            <a:ext cx="16155886" cy="520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Manual booking systems create operational challenges that impact hotel efficiency and guest satisfaction.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47007" y="3101426"/>
            <a:ext cx="7965729" cy="2244176"/>
            <a:chOff x="0" y="0"/>
            <a:chExt cx="10620972" cy="29922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10570210" cy="2941447"/>
            </a:xfrm>
            <a:custGeom>
              <a:avLst/>
              <a:gdLst/>
              <a:ahLst/>
              <a:cxnLst/>
              <a:rect r="r" b="b" t="t" l="l"/>
              <a:pathLst>
                <a:path h="2941447" w="10570210">
                  <a:moveTo>
                    <a:pt x="0" y="243840"/>
                  </a:moveTo>
                  <a:cubicBezTo>
                    <a:pt x="0" y="109220"/>
                    <a:pt x="110490" y="0"/>
                    <a:pt x="246888" y="0"/>
                  </a:cubicBezTo>
                  <a:lnTo>
                    <a:pt x="10323322" y="0"/>
                  </a:lnTo>
                  <a:cubicBezTo>
                    <a:pt x="10459720" y="0"/>
                    <a:pt x="10570210" y="109220"/>
                    <a:pt x="10570210" y="243840"/>
                  </a:cubicBezTo>
                  <a:lnTo>
                    <a:pt x="10570210" y="2697607"/>
                  </a:lnTo>
                  <a:cubicBezTo>
                    <a:pt x="10570210" y="2832227"/>
                    <a:pt x="10459720" y="2941447"/>
                    <a:pt x="10323322" y="2941447"/>
                  </a:cubicBezTo>
                  <a:lnTo>
                    <a:pt x="246888" y="2941447"/>
                  </a:lnTo>
                  <a:cubicBezTo>
                    <a:pt x="110490" y="2941447"/>
                    <a:pt x="0" y="2832227"/>
                    <a:pt x="0" y="2697607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21010" cy="2992247"/>
            </a:xfrm>
            <a:custGeom>
              <a:avLst/>
              <a:gdLst/>
              <a:ahLst/>
              <a:cxnLst/>
              <a:rect r="r" b="b" t="t" l="l"/>
              <a:pathLst>
                <a:path h="2992247" w="10621010">
                  <a:moveTo>
                    <a:pt x="0" y="269240"/>
                  </a:moveTo>
                  <a:cubicBezTo>
                    <a:pt x="0" y="120269"/>
                    <a:pt x="122174" y="0"/>
                    <a:pt x="272288" y="0"/>
                  </a:cubicBezTo>
                  <a:lnTo>
                    <a:pt x="10348722" y="0"/>
                  </a:lnTo>
                  <a:lnTo>
                    <a:pt x="10348722" y="25400"/>
                  </a:lnTo>
                  <a:lnTo>
                    <a:pt x="10348722" y="0"/>
                  </a:lnTo>
                  <a:cubicBezTo>
                    <a:pt x="10498836" y="0"/>
                    <a:pt x="10621010" y="120269"/>
                    <a:pt x="10621010" y="269240"/>
                  </a:cubicBezTo>
                  <a:lnTo>
                    <a:pt x="10595610" y="269240"/>
                  </a:lnTo>
                  <a:lnTo>
                    <a:pt x="10621010" y="269240"/>
                  </a:lnTo>
                  <a:lnTo>
                    <a:pt x="10621010" y="2723007"/>
                  </a:lnTo>
                  <a:lnTo>
                    <a:pt x="10595610" y="2723007"/>
                  </a:lnTo>
                  <a:lnTo>
                    <a:pt x="10621010" y="2723007"/>
                  </a:lnTo>
                  <a:cubicBezTo>
                    <a:pt x="10621010" y="2871978"/>
                    <a:pt x="10498836" y="2992247"/>
                    <a:pt x="10348722" y="2992247"/>
                  </a:cubicBezTo>
                  <a:lnTo>
                    <a:pt x="10348722" y="2966847"/>
                  </a:lnTo>
                  <a:lnTo>
                    <a:pt x="10348722" y="2992247"/>
                  </a:lnTo>
                  <a:lnTo>
                    <a:pt x="272288" y="2992247"/>
                  </a:lnTo>
                  <a:lnTo>
                    <a:pt x="272288" y="2966847"/>
                  </a:lnTo>
                  <a:lnTo>
                    <a:pt x="272288" y="2992247"/>
                  </a:lnTo>
                  <a:cubicBezTo>
                    <a:pt x="122174" y="2992247"/>
                    <a:pt x="0" y="2871978"/>
                    <a:pt x="0" y="2723007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723007"/>
                  </a:lnTo>
                  <a:lnTo>
                    <a:pt x="25400" y="2723007"/>
                  </a:lnTo>
                  <a:lnTo>
                    <a:pt x="50800" y="2723007"/>
                  </a:lnTo>
                  <a:cubicBezTo>
                    <a:pt x="50800" y="2843403"/>
                    <a:pt x="149606" y="2941447"/>
                    <a:pt x="272288" y="2941447"/>
                  </a:cubicBezTo>
                  <a:lnTo>
                    <a:pt x="10348722" y="2941447"/>
                  </a:lnTo>
                  <a:cubicBezTo>
                    <a:pt x="10471277" y="2941447"/>
                    <a:pt x="10570210" y="2843403"/>
                    <a:pt x="10570210" y="2723007"/>
                  </a:cubicBezTo>
                  <a:lnTo>
                    <a:pt x="10570210" y="269240"/>
                  </a:lnTo>
                  <a:cubicBezTo>
                    <a:pt x="10570210" y="148844"/>
                    <a:pt x="10471403" y="50800"/>
                    <a:pt x="10348722" y="50800"/>
                  </a:cubicBezTo>
                  <a:lnTo>
                    <a:pt x="272288" y="50800"/>
                  </a:lnTo>
                  <a:lnTo>
                    <a:pt x="272288" y="25400"/>
                  </a:lnTo>
                  <a:lnTo>
                    <a:pt x="272288" y="50800"/>
                  </a:lnTo>
                  <a:cubicBezTo>
                    <a:pt x="149606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7957" y="3120476"/>
            <a:ext cx="152400" cy="2206076"/>
            <a:chOff x="0" y="0"/>
            <a:chExt cx="203200" cy="29414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200" cy="2941447"/>
            </a:xfrm>
            <a:custGeom>
              <a:avLst/>
              <a:gdLst/>
              <a:ahLst/>
              <a:cxnLst/>
              <a:rect r="r" b="b" t="t" l="l"/>
              <a:pathLst>
                <a:path h="2941447" w="20320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142240" y="0"/>
                  </a:lnTo>
                  <a:cubicBezTo>
                    <a:pt x="175895" y="0"/>
                    <a:pt x="203200" y="27305"/>
                    <a:pt x="203200" y="60960"/>
                  </a:cubicBezTo>
                  <a:lnTo>
                    <a:pt x="203200" y="2880487"/>
                  </a:lnTo>
                  <a:cubicBezTo>
                    <a:pt x="203200" y="2914142"/>
                    <a:pt x="175895" y="2941447"/>
                    <a:pt x="142240" y="2941447"/>
                  </a:cubicBezTo>
                  <a:lnTo>
                    <a:pt x="60960" y="2941447"/>
                  </a:lnTo>
                  <a:cubicBezTo>
                    <a:pt x="27305" y="2941447"/>
                    <a:pt x="0" y="2914142"/>
                    <a:pt x="0" y="28804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522962" y="3453555"/>
            <a:ext cx="4968631" cy="44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Inefficient Room Allocation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22962" y="4009434"/>
            <a:ext cx="7128119" cy="97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Manual tracking leads to poor room assignment and revenue loss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75264" y="3101426"/>
            <a:ext cx="7965729" cy="2244176"/>
            <a:chOff x="0" y="0"/>
            <a:chExt cx="10620972" cy="29922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5400" y="25400"/>
              <a:ext cx="10570210" cy="2941447"/>
            </a:xfrm>
            <a:custGeom>
              <a:avLst/>
              <a:gdLst/>
              <a:ahLst/>
              <a:cxnLst/>
              <a:rect r="r" b="b" t="t" l="l"/>
              <a:pathLst>
                <a:path h="2941447" w="10570210">
                  <a:moveTo>
                    <a:pt x="0" y="243840"/>
                  </a:moveTo>
                  <a:cubicBezTo>
                    <a:pt x="0" y="109220"/>
                    <a:pt x="110490" y="0"/>
                    <a:pt x="246888" y="0"/>
                  </a:cubicBezTo>
                  <a:lnTo>
                    <a:pt x="10323322" y="0"/>
                  </a:lnTo>
                  <a:cubicBezTo>
                    <a:pt x="10459720" y="0"/>
                    <a:pt x="10570210" y="109220"/>
                    <a:pt x="10570210" y="243840"/>
                  </a:cubicBezTo>
                  <a:lnTo>
                    <a:pt x="10570210" y="2697607"/>
                  </a:lnTo>
                  <a:cubicBezTo>
                    <a:pt x="10570210" y="2832227"/>
                    <a:pt x="10459720" y="2941447"/>
                    <a:pt x="10323322" y="2941447"/>
                  </a:cubicBezTo>
                  <a:lnTo>
                    <a:pt x="246888" y="2941447"/>
                  </a:lnTo>
                  <a:cubicBezTo>
                    <a:pt x="110490" y="2941447"/>
                    <a:pt x="0" y="2832227"/>
                    <a:pt x="0" y="2697607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21010" cy="2992247"/>
            </a:xfrm>
            <a:custGeom>
              <a:avLst/>
              <a:gdLst/>
              <a:ahLst/>
              <a:cxnLst/>
              <a:rect r="r" b="b" t="t" l="l"/>
              <a:pathLst>
                <a:path h="2992247" w="10621010">
                  <a:moveTo>
                    <a:pt x="0" y="269240"/>
                  </a:moveTo>
                  <a:cubicBezTo>
                    <a:pt x="0" y="120269"/>
                    <a:pt x="122174" y="0"/>
                    <a:pt x="272288" y="0"/>
                  </a:cubicBezTo>
                  <a:lnTo>
                    <a:pt x="10348722" y="0"/>
                  </a:lnTo>
                  <a:lnTo>
                    <a:pt x="10348722" y="25400"/>
                  </a:lnTo>
                  <a:lnTo>
                    <a:pt x="10348722" y="0"/>
                  </a:lnTo>
                  <a:cubicBezTo>
                    <a:pt x="10498836" y="0"/>
                    <a:pt x="10621010" y="120269"/>
                    <a:pt x="10621010" y="269240"/>
                  </a:cubicBezTo>
                  <a:lnTo>
                    <a:pt x="10595610" y="269240"/>
                  </a:lnTo>
                  <a:lnTo>
                    <a:pt x="10621010" y="269240"/>
                  </a:lnTo>
                  <a:lnTo>
                    <a:pt x="10621010" y="2723007"/>
                  </a:lnTo>
                  <a:lnTo>
                    <a:pt x="10595610" y="2723007"/>
                  </a:lnTo>
                  <a:lnTo>
                    <a:pt x="10621010" y="2723007"/>
                  </a:lnTo>
                  <a:cubicBezTo>
                    <a:pt x="10621010" y="2871978"/>
                    <a:pt x="10498836" y="2992247"/>
                    <a:pt x="10348722" y="2992247"/>
                  </a:cubicBezTo>
                  <a:lnTo>
                    <a:pt x="10348722" y="2966847"/>
                  </a:lnTo>
                  <a:lnTo>
                    <a:pt x="10348722" y="2992247"/>
                  </a:lnTo>
                  <a:lnTo>
                    <a:pt x="272288" y="2992247"/>
                  </a:lnTo>
                  <a:lnTo>
                    <a:pt x="272288" y="2966847"/>
                  </a:lnTo>
                  <a:lnTo>
                    <a:pt x="272288" y="2992247"/>
                  </a:lnTo>
                  <a:cubicBezTo>
                    <a:pt x="122174" y="2992247"/>
                    <a:pt x="0" y="2871978"/>
                    <a:pt x="0" y="2723007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723007"/>
                  </a:lnTo>
                  <a:lnTo>
                    <a:pt x="25400" y="2723007"/>
                  </a:lnTo>
                  <a:lnTo>
                    <a:pt x="50800" y="2723007"/>
                  </a:lnTo>
                  <a:cubicBezTo>
                    <a:pt x="50800" y="2843403"/>
                    <a:pt x="149606" y="2941447"/>
                    <a:pt x="272288" y="2941447"/>
                  </a:cubicBezTo>
                  <a:lnTo>
                    <a:pt x="10348722" y="2941447"/>
                  </a:lnTo>
                  <a:cubicBezTo>
                    <a:pt x="10471277" y="2941447"/>
                    <a:pt x="10570210" y="2843403"/>
                    <a:pt x="10570210" y="2723007"/>
                  </a:cubicBezTo>
                  <a:lnTo>
                    <a:pt x="10570210" y="269240"/>
                  </a:lnTo>
                  <a:cubicBezTo>
                    <a:pt x="10570210" y="148844"/>
                    <a:pt x="10471403" y="50800"/>
                    <a:pt x="10348722" y="50800"/>
                  </a:cubicBezTo>
                  <a:lnTo>
                    <a:pt x="272288" y="50800"/>
                  </a:lnTo>
                  <a:lnTo>
                    <a:pt x="272288" y="25400"/>
                  </a:lnTo>
                  <a:lnTo>
                    <a:pt x="272288" y="50800"/>
                  </a:lnTo>
                  <a:cubicBezTo>
                    <a:pt x="149606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256214" y="3120476"/>
            <a:ext cx="152400" cy="2206076"/>
            <a:chOff x="0" y="0"/>
            <a:chExt cx="203200" cy="29414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3200" cy="2941447"/>
            </a:xfrm>
            <a:custGeom>
              <a:avLst/>
              <a:gdLst/>
              <a:ahLst/>
              <a:cxnLst/>
              <a:rect r="r" b="b" t="t" l="l"/>
              <a:pathLst>
                <a:path h="2941447" w="20320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142240" y="0"/>
                  </a:lnTo>
                  <a:cubicBezTo>
                    <a:pt x="175895" y="0"/>
                    <a:pt x="203200" y="27305"/>
                    <a:pt x="203200" y="60960"/>
                  </a:cubicBezTo>
                  <a:lnTo>
                    <a:pt x="203200" y="2880487"/>
                  </a:lnTo>
                  <a:cubicBezTo>
                    <a:pt x="203200" y="2914142"/>
                    <a:pt x="175895" y="2941447"/>
                    <a:pt x="142240" y="2941447"/>
                  </a:cubicBezTo>
                  <a:lnTo>
                    <a:pt x="60960" y="2941447"/>
                  </a:lnTo>
                  <a:cubicBezTo>
                    <a:pt x="27305" y="2941447"/>
                    <a:pt x="0" y="2914142"/>
                    <a:pt x="0" y="28804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751219" y="3453555"/>
            <a:ext cx="3463376" cy="44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Inconsistency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51219" y="4009434"/>
            <a:ext cx="7128119" cy="97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Multiple records create conflicting information and confusion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47007" y="5608139"/>
            <a:ext cx="7965729" cy="2244176"/>
            <a:chOff x="0" y="0"/>
            <a:chExt cx="10620972" cy="29922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5400" y="25400"/>
              <a:ext cx="10570210" cy="2941447"/>
            </a:xfrm>
            <a:custGeom>
              <a:avLst/>
              <a:gdLst/>
              <a:ahLst/>
              <a:cxnLst/>
              <a:rect r="r" b="b" t="t" l="l"/>
              <a:pathLst>
                <a:path h="2941447" w="10570210">
                  <a:moveTo>
                    <a:pt x="0" y="243840"/>
                  </a:moveTo>
                  <a:cubicBezTo>
                    <a:pt x="0" y="109220"/>
                    <a:pt x="110490" y="0"/>
                    <a:pt x="246888" y="0"/>
                  </a:cubicBezTo>
                  <a:lnTo>
                    <a:pt x="10323322" y="0"/>
                  </a:lnTo>
                  <a:cubicBezTo>
                    <a:pt x="10459720" y="0"/>
                    <a:pt x="10570210" y="109220"/>
                    <a:pt x="10570210" y="243840"/>
                  </a:cubicBezTo>
                  <a:lnTo>
                    <a:pt x="10570210" y="2697607"/>
                  </a:lnTo>
                  <a:cubicBezTo>
                    <a:pt x="10570210" y="2832227"/>
                    <a:pt x="10459720" y="2941447"/>
                    <a:pt x="10323322" y="2941447"/>
                  </a:cubicBezTo>
                  <a:lnTo>
                    <a:pt x="246888" y="2941447"/>
                  </a:lnTo>
                  <a:cubicBezTo>
                    <a:pt x="110490" y="2941447"/>
                    <a:pt x="0" y="2832227"/>
                    <a:pt x="0" y="2697607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21010" cy="2992247"/>
            </a:xfrm>
            <a:custGeom>
              <a:avLst/>
              <a:gdLst/>
              <a:ahLst/>
              <a:cxnLst/>
              <a:rect r="r" b="b" t="t" l="l"/>
              <a:pathLst>
                <a:path h="2992247" w="10621010">
                  <a:moveTo>
                    <a:pt x="0" y="269240"/>
                  </a:moveTo>
                  <a:cubicBezTo>
                    <a:pt x="0" y="120269"/>
                    <a:pt x="122174" y="0"/>
                    <a:pt x="272288" y="0"/>
                  </a:cubicBezTo>
                  <a:lnTo>
                    <a:pt x="10348722" y="0"/>
                  </a:lnTo>
                  <a:lnTo>
                    <a:pt x="10348722" y="25400"/>
                  </a:lnTo>
                  <a:lnTo>
                    <a:pt x="10348722" y="0"/>
                  </a:lnTo>
                  <a:cubicBezTo>
                    <a:pt x="10498836" y="0"/>
                    <a:pt x="10621010" y="120269"/>
                    <a:pt x="10621010" y="269240"/>
                  </a:cubicBezTo>
                  <a:lnTo>
                    <a:pt x="10595610" y="269240"/>
                  </a:lnTo>
                  <a:lnTo>
                    <a:pt x="10621010" y="269240"/>
                  </a:lnTo>
                  <a:lnTo>
                    <a:pt x="10621010" y="2723007"/>
                  </a:lnTo>
                  <a:lnTo>
                    <a:pt x="10595610" y="2723007"/>
                  </a:lnTo>
                  <a:lnTo>
                    <a:pt x="10621010" y="2723007"/>
                  </a:lnTo>
                  <a:cubicBezTo>
                    <a:pt x="10621010" y="2871978"/>
                    <a:pt x="10498836" y="2992247"/>
                    <a:pt x="10348722" y="2992247"/>
                  </a:cubicBezTo>
                  <a:lnTo>
                    <a:pt x="10348722" y="2966847"/>
                  </a:lnTo>
                  <a:lnTo>
                    <a:pt x="10348722" y="2992247"/>
                  </a:lnTo>
                  <a:lnTo>
                    <a:pt x="272288" y="2992247"/>
                  </a:lnTo>
                  <a:lnTo>
                    <a:pt x="272288" y="2966847"/>
                  </a:lnTo>
                  <a:lnTo>
                    <a:pt x="272288" y="2992247"/>
                  </a:lnTo>
                  <a:cubicBezTo>
                    <a:pt x="122174" y="2992247"/>
                    <a:pt x="0" y="2871978"/>
                    <a:pt x="0" y="2723007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723007"/>
                  </a:lnTo>
                  <a:lnTo>
                    <a:pt x="25400" y="2723007"/>
                  </a:lnTo>
                  <a:lnTo>
                    <a:pt x="50800" y="2723007"/>
                  </a:lnTo>
                  <a:cubicBezTo>
                    <a:pt x="50800" y="2843403"/>
                    <a:pt x="149606" y="2941447"/>
                    <a:pt x="272288" y="2941447"/>
                  </a:cubicBezTo>
                  <a:lnTo>
                    <a:pt x="10348722" y="2941447"/>
                  </a:lnTo>
                  <a:cubicBezTo>
                    <a:pt x="10471277" y="2941447"/>
                    <a:pt x="10570210" y="2843403"/>
                    <a:pt x="10570210" y="2723007"/>
                  </a:cubicBezTo>
                  <a:lnTo>
                    <a:pt x="10570210" y="269240"/>
                  </a:lnTo>
                  <a:cubicBezTo>
                    <a:pt x="10570210" y="148844"/>
                    <a:pt x="10471403" y="50800"/>
                    <a:pt x="10348722" y="50800"/>
                  </a:cubicBezTo>
                  <a:lnTo>
                    <a:pt x="272288" y="50800"/>
                  </a:lnTo>
                  <a:lnTo>
                    <a:pt x="272288" y="25400"/>
                  </a:lnTo>
                  <a:lnTo>
                    <a:pt x="272288" y="50800"/>
                  </a:lnTo>
                  <a:cubicBezTo>
                    <a:pt x="149606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27957" y="5627189"/>
            <a:ext cx="152400" cy="2206076"/>
            <a:chOff x="0" y="0"/>
            <a:chExt cx="203200" cy="29414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3200" cy="2941447"/>
            </a:xfrm>
            <a:custGeom>
              <a:avLst/>
              <a:gdLst/>
              <a:ahLst/>
              <a:cxnLst/>
              <a:rect r="r" b="b" t="t" l="l"/>
              <a:pathLst>
                <a:path h="2941447" w="20320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142240" y="0"/>
                  </a:lnTo>
                  <a:cubicBezTo>
                    <a:pt x="175895" y="0"/>
                    <a:pt x="203200" y="27305"/>
                    <a:pt x="203200" y="60960"/>
                  </a:cubicBezTo>
                  <a:lnTo>
                    <a:pt x="203200" y="2880487"/>
                  </a:lnTo>
                  <a:cubicBezTo>
                    <a:pt x="203200" y="2914142"/>
                    <a:pt x="175895" y="2941447"/>
                    <a:pt x="142240" y="2941447"/>
                  </a:cubicBezTo>
                  <a:lnTo>
                    <a:pt x="60960" y="2941447"/>
                  </a:lnTo>
                  <a:cubicBezTo>
                    <a:pt x="27305" y="2941447"/>
                    <a:pt x="0" y="2914142"/>
                    <a:pt x="0" y="28804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522962" y="5960269"/>
            <a:ext cx="3461147" cy="44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Billing Errors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22962" y="6516138"/>
            <a:ext cx="7128119" cy="97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Calculation mistakes result in customer disputes and revenue loss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75264" y="5608139"/>
            <a:ext cx="7965729" cy="2244176"/>
            <a:chOff x="0" y="0"/>
            <a:chExt cx="10620972" cy="299223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5400" y="25400"/>
              <a:ext cx="10570210" cy="2941447"/>
            </a:xfrm>
            <a:custGeom>
              <a:avLst/>
              <a:gdLst/>
              <a:ahLst/>
              <a:cxnLst/>
              <a:rect r="r" b="b" t="t" l="l"/>
              <a:pathLst>
                <a:path h="2941447" w="10570210">
                  <a:moveTo>
                    <a:pt x="0" y="243840"/>
                  </a:moveTo>
                  <a:cubicBezTo>
                    <a:pt x="0" y="109220"/>
                    <a:pt x="110490" y="0"/>
                    <a:pt x="246888" y="0"/>
                  </a:cubicBezTo>
                  <a:lnTo>
                    <a:pt x="10323322" y="0"/>
                  </a:lnTo>
                  <a:cubicBezTo>
                    <a:pt x="10459720" y="0"/>
                    <a:pt x="10570210" y="109220"/>
                    <a:pt x="10570210" y="243840"/>
                  </a:cubicBezTo>
                  <a:lnTo>
                    <a:pt x="10570210" y="2697607"/>
                  </a:lnTo>
                  <a:cubicBezTo>
                    <a:pt x="10570210" y="2832227"/>
                    <a:pt x="10459720" y="2941447"/>
                    <a:pt x="10323322" y="2941447"/>
                  </a:cubicBezTo>
                  <a:lnTo>
                    <a:pt x="246888" y="2941447"/>
                  </a:lnTo>
                  <a:cubicBezTo>
                    <a:pt x="110490" y="2941447"/>
                    <a:pt x="0" y="2832227"/>
                    <a:pt x="0" y="2697607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621010" cy="2992247"/>
            </a:xfrm>
            <a:custGeom>
              <a:avLst/>
              <a:gdLst/>
              <a:ahLst/>
              <a:cxnLst/>
              <a:rect r="r" b="b" t="t" l="l"/>
              <a:pathLst>
                <a:path h="2992247" w="10621010">
                  <a:moveTo>
                    <a:pt x="0" y="269240"/>
                  </a:moveTo>
                  <a:cubicBezTo>
                    <a:pt x="0" y="120269"/>
                    <a:pt x="122174" y="0"/>
                    <a:pt x="272288" y="0"/>
                  </a:cubicBezTo>
                  <a:lnTo>
                    <a:pt x="10348722" y="0"/>
                  </a:lnTo>
                  <a:lnTo>
                    <a:pt x="10348722" y="25400"/>
                  </a:lnTo>
                  <a:lnTo>
                    <a:pt x="10348722" y="0"/>
                  </a:lnTo>
                  <a:cubicBezTo>
                    <a:pt x="10498836" y="0"/>
                    <a:pt x="10621010" y="120269"/>
                    <a:pt x="10621010" y="269240"/>
                  </a:cubicBezTo>
                  <a:lnTo>
                    <a:pt x="10595610" y="269240"/>
                  </a:lnTo>
                  <a:lnTo>
                    <a:pt x="10621010" y="269240"/>
                  </a:lnTo>
                  <a:lnTo>
                    <a:pt x="10621010" y="2723007"/>
                  </a:lnTo>
                  <a:lnTo>
                    <a:pt x="10595610" y="2723007"/>
                  </a:lnTo>
                  <a:lnTo>
                    <a:pt x="10621010" y="2723007"/>
                  </a:lnTo>
                  <a:cubicBezTo>
                    <a:pt x="10621010" y="2871978"/>
                    <a:pt x="10498836" y="2992247"/>
                    <a:pt x="10348722" y="2992247"/>
                  </a:cubicBezTo>
                  <a:lnTo>
                    <a:pt x="10348722" y="2966847"/>
                  </a:lnTo>
                  <a:lnTo>
                    <a:pt x="10348722" y="2992247"/>
                  </a:lnTo>
                  <a:lnTo>
                    <a:pt x="272288" y="2992247"/>
                  </a:lnTo>
                  <a:lnTo>
                    <a:pt x="272288" y="2966847"/>
                  </a:lnTo>
                  <a:lnTo>
                    <a:pt x="272288" y="2992247"/>
                  </a:lnTo>
                  <a:cubicBezTo>
                    <a:pt x="122174" y="2992247"/>
                    <a:pt x="0" y="2871978"/>
                    <a:pt x="0" y="2723007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723007"/>
                  </a:lnTo>
                  <a:lnTo>
                    <a:pt x="25400" y="2723007"/>
                  </a:lnTo>
                  <a:lnTo>
                    <a:pt x="50800" y="2723007"/>
                  </a:lnTo>
                  <a:cubicBezTo>
                    <a:pt x="50800" y="2843403"/>
                    <a:pt x="149606" y="2941447"/>
                    <a:pt x="272288" y="2941447"/>
                  </a:cubicBezTo>
                  <a:lnTo>
                    <a:pt x="10348722" y="2941447"/>
                  </a:lnTo>
                  <a:cubicBezTo>
                    <a:pt x="10471277" y="2941447"/>
                    <a:pt x="10570210" y="2843403"/>
                    <a:pt x="10570210" y="2723007"/>
                  </a:cubicBezTo>
                  <a:lnTo>
                    <a:pt x="10570210" y="269240"/>
                  </a:lnTo>
                  <a:cubicBezTo>
                    <a:pt x="10570210" y="148844"/>
                    <a:pt x="10471403" y="50800"/>
                    <a:pt x="10348722" y="50800"/>
                  </a:cubicBezTo>
                  <a:lnTo>
                    <a:pt x="272288" y="50800"/>
                  </a:lnTo>
                  <a:lnTo>
                    <a:pt x="272288" y="25400"/>
                  </a:lnTo>
                  <a:lnTo>
                    <a:pt x="272288" y="50800"/>
                  </a:lnTo>
                  <a:cubicBezTo>
                    <a:pt x="149606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256214" y="5627189"/>
            <a:ext cx="152400" cy="2206076"/>
            <a:chOff x="0" y="0"/>
            <a:chExt cx="203200" cy="294143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3200" cy="2941447"/>
            </a:xfrm>
            <a:custGeom>
              <a:avLst/>
              <a:gdLst/>
              <a:ahLst/>
              <a:cxnLst/>
              <a:rect r="r" b="b" t="t" l="l"/>
              <a:pathLst>
                <a:path h="2941447" w="20320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142240" y="0"/>
                  </a:lnTo>
                  <a:cubicBezTo>
                    <a:pt x="175895" y="0"/>
                    <a:pt x="203200" y="27305"/>
                    <a:pt x="203200" y="60960"/>
                  </a:cubicBezTo>
                  <a:lnTo>
                    <a:pt x="203200" y="2880487"/>
                  </a:lnTo>
                  <a:cubicBezTo>
                    <a:pt x="203200" y="2914142"/>
                    <a:pt x="175895" y="2941447"/>
                    <a:pt x="142240" y="2941447"/>
                  </a:cubicBezTo>
                  <a:lnTo>
                    <a:pt x="60960" y="2941447"/>
                  </a:lnTo>
                  <a:cubicBezTo>
                    <a:pt x="27305" y="2941447"/>
                    <a:pt x="0" y="2914142"/>
                    <a:pt x="0" y="288048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751219" y="5960269"/>
            <a:ext cx="4535834" cy="442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Poor Guest Management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751219" y="6516138"/>
            <a:ext cx="7128119" cy="520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Limited tracking of guest preferences and history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66057" y="8171412"/>
            <a:ext cx="16155886" cy="1253433"/>
            <a:chOff x="0" y="0"/>
            <a:chExt cx="21541181" cy="167124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541232" cy="1671320"/>
            </a:xfrm>
            <a:custGeom>
              <a:avLst/>
              <a:gdLst/>
              <a:ahLst/>
              <a:cxnLst/>
              <a:rect r="r" b="b" t="t" l="l"/>
              <a:pathLst>
                <a:path h="1671320" w="21541232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480272" y="0"/>
                  </a:lnTo>
                  <a:cubicBezTo>
                    <a:pt x="21513927" y="0"/>
                    <a:pt x="21541232" y="27305"/>
                    <a:pt x="21541232" y="60960"/>
                  </a:cubicBezTo>
                  <a:lnTo>
                    <a:pt x="21541232" y="1610360"/>
                  </a:lnTo>
                  <a:cubicBezTo>
                    <a:pt x="21541232" y="1644015"/>
                    <a:pt x="21513927" y="1671320"/>
                    <a:pt x="21480272" y="1671320"/>
                  </a:cubicBezTo>
                  <a:lnTo>
                    <a:pt x="60960" y="1671320"/>
                  </a:lnTo>
                  <a:cubicBezTo>
                    <a:pt x="27305" y="1671320"/>
                    <a:pt x="0" y="1644015"/>
                    <a:pt x="0" y="1610360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70562" y="8599732"/>
            <a:ext cx="380705" cy="304505"/>
            <a:chOff x="0" y="0"/>
            <a:chExt cx="507606" cy="406006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507619" cy="406019"/>
            </a:xfrm>
            <a:custGeom>
              <a:avLst/>
              <a:gdLst/>
              <a:ahLst/>
              <a:cxnLst/>
              <a:rect r="r" b="b" t="t" l="l"/>
              <a:pathLst>
                <a:path h="406019" w="507619">
                  <a:moveTo>
                    <a:pt x="0" y="0"/>
                  </a:moveTo>
                  <a:lnTo>
                    <a:pt x="507619" y="0"/>
                  </a:lnTo>
                  <a:lnTo>
                    <a:pt x="507619" y="406019"/>
                  </a:lnTo>
                  <a:lnTo>
                    <a:pt x="0" y="406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" r="2" b="-6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2055762" y="8481422"/>
            <a:ext cx="14861677" cy="520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375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Need:</a:t>
            </a:r>
            <a:r>
              <a:rPr lang="en-US" sz="2375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Automated system ensuring accuracy, efficiency, and data integrity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1729378"/>
            <a:ext cx="7012191" cy="90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9744" y="3165872"/>
            <a:ext cx="308524" cy="47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79744" y="3737820"/>
            <a:ext cx="5170437" cy="38100"/>
            <a:chOff x="0" y="0"/>
            <a:chExt cx="6893916" cy="50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93941" cy="50800"/>
            </a:xfrm>
            <a:custGeom>
              <a:avLst/>
              <a:gdLst/>
              <a:ahLst/>
              <a:cxnLst/>
              <a:rect r="r" b="b" t="t" l="l"/>
              <a:pathLst>
                <a:path h="50800" w="6893941">
                  <a:moveTo>
                    <a:pt x="0" y="0"/>
                  </a:moveTo>
                  <a:lnTo>
                    <a:pt x="6893941" y="0"/>
                  </a:lnTo>
                  <a:lnTo>
                    <a:pt x="689394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44" y="3949151"/>
            <a:ext cx="5129060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Real-Time Room Availability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9744" y="4515298"/>
            <a:ext cx="5170437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Instant view of vacant and occupied rooms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58705" y="3165872"/>
            <a:ext cx="308524" cy="47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58705" y="3737820"/>
            <a:ext cx="5170437" cy="38100"/>
            <a:chOff x="0" y="0"/>
            <a:chExt cx="6893916" cy="5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93941" cy="50800"/>
            </a:xfrm>
            <a:custGeom>
              <a:avLst/>
              <a:gdLst/>
              <a:ahLst/>
              <a:cxnLst/>
              <a:rect r="r" b="b" t="t" l="l"/>
              <a:pathLst>
                <a:path h="50800" w="6893941">
                  <a:moveTo>
                    <a:pt x="0" y="0"/>
                  </a:moveTo>
                  <a:lnTo>
                    <a:pt x="6893941" y="0"/>
                  </a:lnTo>
                  <a:lnTo>
                    <a:pt x="689394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558705" y="3949151"/>
            <a:ext cx="5170437" cy="895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Guest Records Management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58705" y="4953591"/>
            <a:ext cx="5170437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Centralized storage of guest information and preferences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37666" y="3165872"/>
            <a:ext cx="308524" cy="47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037666" y="3737820"/>
            <a:ext cx="5170437" cy="38100"/>
            <a:chOff x="0" y="0"/>
            <a:chExt cx="6893916" cy="50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93941" cy="50800"/>
            </a:xfrm>
            <a:custGeom>
              <a:avLst/>
              <a:gdLst/>
              <a:ahLst/>
              <a:cxnLst/>
              <a:rect r="r" b="b" t="t" l="l"/>
              <a:pathLst>
                <a:path h="50800" w="6893941">
                  <a:moveTo>
                    <a:pt x="0" y="0"/>
                  </a:moveTo>
                  <a:lnTo>
                    <a:pt x="6893941" y="0"/>
                  </a:lnTo>
                  <a:lnTo>
                    <a:pt x="689394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037666" y="3949151"/>
            <a:ext cx="471948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Booking Lifecycle Control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37666" y="4515298"/>
            <a:ext cx="5170437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Complete management from booking to checkout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9744" y="6409287"/>
            <a:ext cx="308524" cy="47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79744" y="6981234"/>
            <a:ext cx="7909922" cy="38100"/>
            <a:chOff x="0" y="0"/>
            <a:chExt cx="10546563" cy="50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46588" cy="50800"/>
            </a:xfrm>
            <a:custGeom>
              <a:avLst/>
              <a:gdLst/>
              <a:ahLst/>
              <a:cxnLst/>
              <a:rect r="r" b="b" t="t" l="l"/>
              <a:pathLst>
                <a:path h="50800" w="10546588">
                  <a:moveTo>
                    <a:pt x="0" y="0"/>
                  </a:moveTo>
                  <a:lnTo>
                    <a:pt x="10546588" y="0"/>
                  </a:lnTo>
                  <a:lnTo>
                    <a:pt x="1054658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79744" y="7192566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Accurate Billing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79744" y="7758703"/>
            <a:ext cx="7909922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Automated calculation of charges and invoices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98191" y="6409287"/>
            <a:ext cx="308524" cy="47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05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98191" y="6981234"/>
            <a:ext cx="7909922" cy="38100"/>
            <a:chOff x="0" y="0"/>
            <a:chExt cx="10546563" cy="50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546588" cy="50800"/>
            </a:xfrm>
            <a:custGeom>
              <a:avLst/>
              <a:gdLst/>
              <a:ahLst/>
              <a:cxnLst/>
              <a:rect r="r" b="b" t="t" l="l"/>
              <a:pathLst>
                <a:path h="50800" w="10546588">
                  <a:moveTo>
                    <a:pt x="0" y="0"/>
                  </a:moveTo>
                  <a:lnTo>
                    <a:pt x="10546588" y="0"/>
                  </a:lnTo>
                  <a:lnTo>
                    <a:pt x="1054658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298191" y="7192566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Persistence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98191" y="7758703"/>
            <a:ext cx="7909922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Reliable storage using CSV file system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1549898"/>
            <a:ext cx="7523264" cy="90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9744" y="2995908"/>
            <a:ext cx="16128502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system follows a </a:t>
            </a:r>
            <a:r>
              <a:rPr lang="en-US" sz="2375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Controller–Store Architecture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pattern, ensuring clear separation of concerns and maintainability.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42459" y="5115963"/>
            <a:ext cx="4707579" cy="308524"/>
            <a:chOff x="0" y="0"/>
            <a:chExt cx="6276772" cy="4113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76848" cy="411353"/>
            </a:xfrm>
            <a:custGeom>
              <a:avLst/>
              <a:gdLst/>
              <a:ahLst/>
              <a:cxnLst/>
              <a:rect r="r" b="b" t="t" l="l"/>
              <a:pathLst>
                <a:path h="411353" w="6276848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6215126" y="0"/>
                  </a:lnTo>
                  <a:cubicBezTo>
                    <a:pt x="6249162" y="0"/>
                    <a:pt x="6276848" y="27686"/>
                    <a:pt x="6276848" y="61722"/>
                  </a:cubicBezTo>
                  <a:lnTo>
                    <a:pt x="6276848" y="349631"/>
                  </a:lnTo>
                  <a:cubicBezTo>
                    <a:pt x="6276848" y="383667"/>
                    <a:pt x="6249162" y="411353"/>
                    <a:pt x="6215126" y="411353"/>
                  </a:cubicBezTo>
                  <a:lnTo>
                    <a:pt x="61722" y="411353"/>
                  </a:lnTo>
                  <a:cubicBezTo>
                    <a:pt x="27686" y="411353"/>
                    <a:pt x="0" y="383794"/>
                    <a:pt x="0" y="349631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79744" y="4807372"/>
            <a:ext cx="925563" cy="925563"/>
            <a:chOff x="0" y="0"/>
            <a:chExt cx="1234084" cy="12340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4059" cy="1234059"/>
            </a:xfrm>
            <a:custGeom>
              <a:avLst/>
              <a:gdLst/>
              <a:ahLst/>
              <a:cxnLst/>
              <a:rect r="r" b="b" t="t" l="l"/>
              <a:pathLst>
                <a:path h="1234059" w="1234059">
                  <a:moveTo>
                    <a:pt x="0" y="617093"/>
                  </a:moveTo>
                  <a:cubicBezTo>
                    <a:pt x="0" y="276225"/>
                    <a:pt x="276225" y="0"/>
                    <a:pt x="617093" y="0"/>
                  </a:cubicBezTo>
                  <a:cubicBezTo>
                    <a:pt x="957961" y="0"/>
                    <a:pt x="1234059" y="276225"/>
                    <a:pt x="1234059" y="617093"/>
                  </a:cubicBezTo>
                  <a:cubicBezTo>
                    <a:pt x="1234059" y="957961"/>
                    <a:pt x="957834" y="1234059"/>
                    <a:pt x="617093" y="1234059"/>
                  </a:cubicBezTo>
                  <a:cubicBezTo>
                    <a:pt x="276352" y="1234059"/>
                    <a:pt x="0" y="957834"/>
                    <a:pt x="0" y="617093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311173" y="5038801"/>
            <a:ext cx="462705" cy="462705"/>
          </a:xfrm>
          <a:custGeom>
            <a:avLst/>
            <a:gdLst/>
            <a:ahLst/>
            <a:cxnLst/>
            <a:rect r="r" b="b" t="t" l="l"/>
            <a:pathLst>
              <a:path h="462705" w="462705">
                <a:moveTo>
                  <a:pt x="0" y="0"/>
                </a:moveTo>
                <a:lnTo>
                  <a:pt x="462706" y="0"/>
                </a:lnTo>
                <a:lnTo>
                  <a:pt x="462706" y="462706"/>
                </a:lnTo>
                <a:lnTo>
                  <a:pt x="0" y="462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21" t="0" r="-1018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88269" y="6022477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Presentation Layer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8269" y="6588623"/>
            <a:ext cx="4553398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Main class handles user interface and menu navigation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021411" y="4653115"/>
            <a:ext cx="4707579" cy="308524"/>
            <a:chOff x="0" y="0"/>
            <a:chExt cx="6276772" cy="4113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76848" cy="411353"/>
            </a:xfrm>
            <a:custGeom>
              <a:avLst/>
              <a:gdLst/>
              <a:ahLst/>
              <a:cxnLst/>
              <a:rect r="r" b="b" t="t" l="l"/>
              <a:pathLst>
                <a:path h="411353" w="6276848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6215126" y="0"/>
                  </a:lnTo>
                  <a:cubicBezTo>
                    <a:pt x="6249162" y="0"/>
                    <a:pt x="6276848" y="27686"/>
                    <a:pt x="6276848" y="61722"/>
                  </a:cubicBezTo>
                  <a:lnTo>
                    <a:pt x="6276848" y="349631"/>
                  </a:lnTo>
                  <a:cubicBezTo>
                    <a:pt x="6276848" y="383667"/>
                    <a:pt x="6249162" y="411353"/>
                    <a:pt x="6215126" y="411353"/>
                  </a:cubicBezTo>
                  <a:lnTo>
                    <a:pt x="61722" y="411353"/>
                  </a:lnTo>
                  <a:cubicBezTo>
                    <a:pt x="27686" y="411353"/>
                    <a:pt x="0" y="383794"/>
                    <a:pt x="0" y="349631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558705" y="4344514"/>
            <a:ext cx="925563" cy="925563"/>
            <a:chOff x="0" y="0"/>
            <a:chExt cx="1234084" cy="12340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34059" cy="1234059"/>
            </a:xfrm>
            <a:custGeom>
              <a:avLst/>
              <a:gdLst/>
              <a:ahLst/>
              <a:cxnLst/>
              <a:rect r="r" b="b" t="t" l="l"/>
              <a:pathLst>
                <a:path h="1234059" w="1234059">
                  <a:moveTo>
                    <a:pt x="0" y="617093"/>
                  </a:moveTo>
                  <a:cubicBezTo>
                    <a:pt x="0" y="276225"/>
                    <a:pt x="276225" y="0"/>
                    <a:pt x="617093" y="0"/>
                  </a:cubicBezTo>
                  <a:cubicBezTo>
                    <a:pt x="957961" y="0"/>
                    <a:pt x="1234059" y="276225"/>
                    <a:pt x="1234059" y="617093"/>
                  </a:cubicBezTo>
                  <a:cubicBezTo>
                    <a:pt x="1234059" y="957961"/>
                    <a:pt x="957834" y="1234059"/>
                    <a:pt x="617093" y="1234059"/>
                  </a:cubicBezTo>
                  <a:cubicBezTo>
                    <a:pt x="276352" y="1234059"/>
                    <a:pt x="0" y="957834"/>
                    <a:pt x="0" y="617093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6790134" y="4575943"/>
            <a:ext cx="462705" cy="462705"/>
          </a:xfrm>
          <a:custGeom>
            <a:avLst/>
            <a:gdLst/>
            <a:ahLst/>
            <a:cxnLst/>
            <a:rect r="r" b="b" t="t" l="l"/>
            <a:pathLst>
              <a:path h="462705" w="462705">
                <a:moveTo>
                  <a:pt x="0" y="0"/>
                </a:moveTo>
                <a:lnTo>
                  <a:pt x="462706" y="0"/>
                </a:lnTo>
                <a:lnTo>
                  <a:pt x="462706" y="462706"/>
                </a:lnTo>
                <a:lnTo>
                  <a:pt x="0" y="4627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0204" t="0" r="-10204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867230" y="5559628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Controller Layer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67230" y="6125766"/>
            <a:ext cx="4553398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Business logic, validation, and coordination between components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500372" y="4190409"/>
            <a:ext cx="4707579" cy="308524"/>
            <a:chOff x="0" y="0"/>
            <a:chExt cx="6276772" cy="41136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76848" cy="411353"/>
            </a:xfrm>
            <a:custGeom>
              <a:avLst/>
              <a:gdLst/>
              <a:ahLst/>
              <a:cxnLst/>
              <a:rect r="r" b="b" t="t" l="l"/>
              <a:pathLst>
                <a:path h="411353" w="6276848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6215126" y="0"/>
                  </a:lnTo>
                  <a:cubicBezTo>
                    <a:pt x="6249162" y="0"/>
                    <a:pt x="6276848" y="27686"/>
                    <a:pt x="6276848" y="61722"/>
                  </a:cubicBezTo>
                  <a:lnTo>
                    <a:pt x="6276848" y="349631"/>
                  </a:lnTo>
                  <a:cubicBezTo>
                    <a:pt x="6276848" y="383667"/>
                    <a:pt x="6249162" y="411353"/>
                    <a:pt x="6215126" y="411353"/>
                  </a:cubicBezTo>
                  <a:lnTo>
                    <a:pt x="61722" y="411353"/>
                  </a:lnTo>
                  <a:cubicBezTo>
                    <a:pt x="27686" y="411353"/>
                    <a:pt x="0" y="383794"/>
                    <a:pt x="0" y="349631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037666" y="3881809"/>
            <a:ext cx="925563" cy="925563"/>
            <a:chOff x="0" y="0"/>
            <a:chExt cx="1234084" cy="12340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34059" cy="1234059"/>
            </a:xfrm>
            <a:custGeom>
              <a:avLst/>
              <a:gdLst/>
              <a:ahLst/>
              <a:cxnLst/>
              <a:rect r="r" b="b" t="t" l="l"/>
              <a:pathLst>
                <a:path h="1234059" w="1234059">
                  <a:moveTo>
                    <a:pt x="0" y="617093"/>
                  </a:moveTo>
                  <a:cubicBezTo>
                    <a:pt x="0" y="276225"/>
                    <a:pt x="276225" y="0"/>
                    <a:pt x="617093" y="0"/>
                  </a:cubicBezTo>
                  <a:cubicBezTo>
                    <a:pt x="957961" y="0"/>
                    <a:pt x="1234059" y="276225"/>
                    <a:pt x="1234059" y="617093"/>
                  </a:cubicBezTo>
                  <a:cubicBezTo>
                    <a:pt x="1234059" y="957961"/>
                    <a:pt x="957834" y="1234059"/>
                    <a:pt x="617093" y="1234059"/>
                  </a:cubicBezTo>
                  <a:cubicBezTo>
                    <a:pt x="276352" y="1234059"/>
                    <a:pt x="0" y="957834"/>
                    <a:pt x="0" y="617093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12269095" y="4113238"/>
            <a:ext cx="462705" cy="462705"/>
          </a:xfrm>
          <a:custGeom>
            <a:avLst/>
            <a:gdLst/>
            <a:ahLst/>
            <a:cxnLst/>
            <a:rect r="r" b="b" t="t" l="l"/>
            <a:pathLst>
              <a:path h="462705" w="462705">
                <a:moveTo>
                  <a:pt x="0" y="0"/>
                </a:moveTo>
                <a:lnTo>
                  <a:pt x="462706" y="0"/>
                </a:lnTo>
                <a:lnTo>
                  <a:pt x="462706" y="462705"/>
                </a:lnTo>
                <a:lnTo>
                  <a:pt x="0" y="4627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4082" r="0" b="-4082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346191" y="5096913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Layer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46191" y="5663060"/>
            <a:ext cx="4553398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Store classes manage CSV file operations and data persistence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79744" y="8169621"/>
            <a:ext cx="16128502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This three-tier architecture ensures </a:t>
            </a:r>
            <a:r>
              <a:rPr lang="en-US" sz="2375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modularity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lang="en-US" sz="2375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scalability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, and </a:t>
            </a:r>
            <a:r>
              <a:rPr lang="en-US" sz="2375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ease of maintenance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03544" y="935679"/>
            <a:ext cx="6892376" cy="83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1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UML Class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3544" y="1856784"/>
            <a:ext cx="3910308" cy="507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6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Entry Point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3544" y="2716559"/>
            <a:ext cx="16280902" cy="462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3249"/>
              </a:lnSpc>
              <a:buFont typeface="Arial"/>
              <a:buChar char="•"/>
            </a:pPr>
            <a:r>
              <a:rPr lang="en-US" sz="2249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Main class - System startup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03544" y="3559816"/>
            <a:ext cx="3910308" cy="507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6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Controller Layer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3544" y="4419600"/>
            <a:ext cx="16280902" cy="1478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3249"/>
              </a:lnSpc>
              <a:buFont typeface="Arial"/>
              <a:buChar char="•"/>
            </a:pPr>
            <a:r>
              <a:rPr lang="en-US" sz="2249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BookingController</a:t>
            </a:r>
          </a:p>
          <a:p>
            <a:pPr algn="l" marL="339328" indent="-169664" lvl="1">
              <a:lnSpc>
                <a:spcPts val="3249"/>
              </a:lnSpc>
              <a:buFont typeface="Arial"/>
              <a:buChar char="•"/>
            </a:pPr>
            <a:r>
              <a:rPr lang="en-US" sz="2249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RoomController</a:t>
            </a:r>
          </a:p>
          <a:p>
            <a:pPr algn="l" marL="339328" indent="-169664" lvl="1">
              <a:lnSpc>
                <a:spcPts val="3249"/>
              </a:lnSpc>
              <a:buFont typeface="Arial"/>
              <a:buChar char="•"/>
            </a:pPr>
            <a:r>
              <a:rPr lang="en-US" sz="2249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GuestController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3544" y="6279061"/>
            <a:ext cx="3910308" cy="507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6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Store Layer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3544" y="7138835"/>
            <a:ext cx="16280902" cy="1478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3249"/>
              </a:lnSpc>
              <a:buFont typeface="Arial"/>
              <a:buChar char="•"/>
            </a:pPr>
            <a:r>
              <a:rPr lang="en-US" sz="2249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BookingStore</a:t>
            </a:r>
          </a:p>
          <a:p>
            <a:pPr algn="l" marL="339328" indent="-169664" lvl="1">
              <a:lnSpc>
                <a:spcPts val="3249"/>
              </a:lnSpc>
              <a:buFont typeface="Arial"/>
              <a:buChar char="•"/>
            </a:pPr>
            <a:r>
              <a:rPr lang="en-US" sz="2249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RoomStore</a:t>
            </a:r>
          </a:p>
          <a:p>
            <a:pPr algn="l" marL="339328" indent="-169664" lvl="1">
              <a:lnSpc>
                <a:spcPts val="3249"/>
              </a:lnSpc>
              <a:buFont typeface="Arial"/>
              <a:buChar char="•"/>
            </a:pPr>
            <a:r>
              <a:rPr lang="en-US" sz="2249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GuestStore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3544" y="8869709"/>
            <a:ext cx="16280902" cy="462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249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Each component has a </a:t>
            </a:r>
            <a:r>
              <a:rPr lang="en-US" sz="2249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clear separation of responsibilities</a:t>
            </a:r>
            <a:r>
              <a:rPr lang="en-US" sz="2249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, promoting code reusability and maintainability.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998934"/>
            <a:ext cx="7012191" cy="90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Components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79744" y="2983859"/>
            <a:ext cx="5170437" cy="6275489"/>
            <a:chOff x="0" y="0"/>
            <a:chExt cx="6893916" cy="83673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93941" cy="8367268"/>
            </a:xfrm>
            <a:custGeom>
              <a:avLst/>
              <a:gdLst/>
              <a:ahLst/>
              <a:cxnLst/>
              <a:rect r="r" b="b" t="t" l="l"/>
              <a:pathLst>
                <a:path h="8367268" w="6893941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650101" y="0"/>
                  </a:lnTo>
                  <a:cubicBezTo>
                    <a:pt x="6784721" y="0"/>
                    <a:pt x="6893941" y="109220"/>
                    <a:pt x="6893941" y="243840"/>
                  </a:cubicBezTo>
                  <a:lnTo>
                    <a:pt x="6893941" y="8123428"/>
                  </a:lnTo>
                  <a:cubicBezTo>
                    <a:pt x="6893941" y="8258048"/>
                    <a:pt x="6784721" y="8367268"/>
                    <a:pt x="6650101" y="8367268"/>
                  </a:cubicBezTo>
                  <a:lnTo>
                    <a:pt x="243840" y="8367268"/>
                  </a:lnTo>
                  <a:cubicBezTo>
                    <a:pt x="109220" y="8367268"/>
                    <a:pt x="0" y="8258048"/>
                    <a:pt x="0" y="8123428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79744" y="2945759"/>
            <a:ext cx="5170437" cy="152400"/>
            <a:chOff x="0" y="0"/>
            <a:chExt cx="6893916" cy="203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93940" cy="203200"/>
            </a:xfrm>
            <a:custGeom>
              <a:avLst/>
              <a:gdLst/>
              <a:ahLst/>
              <a:cxnLst/>
              <a:rect r="r" b="b" t="t" l="l"/>
              <a:pathLst>
                <a:path h="203200" w="6893940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6832219" y="0"/>
                  </a:lnTo>
                  <a:cubicBezTo>
                    <a:pt x="6866255" y="0"/>
                    <a:pt x="6893940" y="27686"/>
                    <a:pt x="6893940" y="61722"/>
                  </a:cubicBezTo>
                  <a:lnTo>
                    <a:pt x="6893940" y="141478"/>
                  </a:lnTo>
                  <a:cubicBezTo>
                    <a:pt x="6893940" y="175514"/>
                    <a:pt x="6866255" y="203200"/>
                    <a:pt x="6832219" y="203200"/>
                  </a:cubicBezTo>
                  <a:lnTo>
                    <a:pt x="61722" y="203200"/>
                  </a:lnTo>
                  <a:cubicBezTo>
                    <a:pt x="27686" y="203200"/>
                    <a:pt x="0" y="175514"/>
                    <a:pt x="0" y="1414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202114" y="2521153"/>
            <a:ext cx="925563" cy="925563"/>
            <a:chOff x="0" y="0"/>
            <a:chExt cx="1234084" cy="12340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34059" cy="1234059"/>
            </a:xfrm>
            <a:custGeom>
              <a:avLst/>
              <a:gdLst/>
              <a:ahLst/>
              <a:cxnLst/>
              <a:rect r="r" b="b" t="t" l="l"/>
              <a:pathLst>
                <a:path h="1234059" w="1234059">
                  <a:moveTo>
                    <a:pt x="0" y="617093"/>
                  </a:moveTo>
                  <a:cubicBezTo>
                    <a:pt x="0" y="276225"/>
                    <a:pt x="276225" y="0"/>
                    <a:pt x="617093" y="0"/>
                  </a:cubicBezTo>
                  <a:cubicBezTo>
                    <a:pt x="957961" y="0"/>
                    <a:pt x="1234059" y="276225"/>
                    <a:pt x="1234059" y="617093"/>
                  </a:cubicBezTo>
                  <a:cubicBezTo>
                    <a:pt x="1234059" y="957961"/>
                    <a:pt x="957834" y="1234059"/>
                    <a:pt x="617093" y="1234059"/>
                  </a:cubicBezTo>
                  <a:cubicBezTo>
                    <a:pt x="276352" y="1234059"/>
                    <a:pt x="0" y="957834"/>
                    <a:pt x="0" y="61709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3479825" y="2666848"/>
            <a:ext cx="370132" cy="5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287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6369" y="3736029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BookingController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26369" y="4302176"/>
            <a:ext cx="4477198" cy="146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Booking Lifecycle: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Manages complete booking process from creation to cancellation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26369" y="5875287"/>
            <a:ext cx="4477198" cy="146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Validation: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Ensures guest exists and room is available before booking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6369" y="7448398"/>
            <a:ext cx="4477198" cy="146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Cost Calculation: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Automatically computes charges based on room type and duration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58705" y="2983859"/>
            <a:ext cx="5170437" cy="6275489"/>
            <a:chOff x="0" y="0"/>
            <a:chExt cx="6893916" cy="83673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93941" cy="8367268"/>
            </a:xfrm>
            <a:custGeom>
              <a:avLst/>
              <a:gdLst/>
              <a:ahLst/>
              <a:cxnLst/>
              <a:rect r="r" b="b" t="t" l="l"/>
              <a:pathLst>
                <a:path h="8367268" w="6893941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650101" y="0"/>
                  </a:lnTo>
                  <a:cubicBezTo>
                    <a:pt x="6784721" y="0"/>
                    <a:pt x="6893941" y="109220"/>
                    <a:pt x="6893941" y="243840"/>
                  </a:cubicBezTo>
                  <a:lnTo>
                    <a:pt x="6893941" y="8123428"/>
                  </a:lnTo>
                  <a:cubicBezTo>
                    <a:pt x="6893941" y="8258048"/>
                    <a:pt x="6784721" y="8367268"/>
                    <a:pt x="6650101" y="8367268"/>
                  </a:cubicBezTo>
                  <a:lnTo>
                    <a:pt x="243840" y="8367268"/>
                  </a:lnTo>
                  <a:cubicBezTo>
                    <a:pt x="109220" y="8367268"/>
                    <a:pt x="0" y="8258048"/>
                    <a:pt x="0" y="8123428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558705" y="2945759"/>
            <a:ext cx="5170437" cy="152400"/>
            <a:chOff x="0" y="0"/>
            <a:chExt cx="6893916" cy="203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93940" cy="203200"/>
            </a:xfrm>
            <a:custGeom>
              <a:avLst/>
              <a:gdLst/>
              <a:ahLst/>
              <a:cxnLst/>
              <a:rect r="r" b="b" t="t" l="l"/>
              <a:pathLst>
                <a:path h="203200" w="6893940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6832219" y="0"/>
                  </a:lnTo>
                  <a:cubicBezTo>
                    <a:pt x="6866255" y="0"/>
                    <a:pt x="6893940" y="27686"/>
                    <a:pt x="6893940" y="61722"/>
                  </a:cubicBezTo>
                  <a:lnTo>
                    <a:pt x="6893940" y="141478"/>
                  </a:lnTo>
                  <a:cubicBezTo>
                    <a:pt x="6893940" y="175514"/>
                    <a:pt x="6866255" y="203200"/>
                    <a:pt x="6832219" y="203200"/>
                  </a:cubicBezTo>
                  <a:lnTo>
                    <a:pt x="61722" y="203200"/>
                  </a:lnTo>
                  <a:cubicBezTo>
                    <a:pt x="27686" y="203200"/>
                    <a:pt x="0" y="175514"/>
                    <a:pt x="0" y="1414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681066" y="2521153"/>
            <a:ext cx="925563" cy="925563"/>
            <a:chOff x="0" y="0"/>
            <a:chExt cx="1234084" cy="12340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34059" cy="1234059"/>
            </a:xfrm>
            <a:custGeom>
              <a:avLst/>
              <a:gdLst/>
              <a:ahLst/>
              <a:cxnLst/>
              <a:rect r="r" b="b" t="t" l="l"/>
              <a:pathLst>
                <a:path h="1234059" w="1234059">
                  <a:moveTo>
                    <a:pt x="0" y="617093"/>
                  </a:moveTo>
                  <a:cubicBezTo>
                    <a:pt x="0" y="276225"/>
                    <a:pt x="276225" y="0"/>
                    <a:pt x="617093" y="0"/>
                  </a:cubicBezTo>
                  <a:cubicBezTo>
                    <a:pt x="957961" y="0"/>
                    <a:pt x="1234059" y="276225"/>
                    <a:pt x="1234059" y="617093"/>
                  </a:cubicBezTo>
                  <a:cubicBezTo>
                    <a:pt x="1234059" y="957961"/>
                    <a:pt x="957834" y="1234059"/>
                    <a:pt x="617093" y="1234059"/>
                  </a:cubicBezTo>
                  <a:cubicBezTo>
                    <a:pt x="276352" y="1234059"/>
                    <a:pt x="0" y="957834"/>
                    <a:pt x="0" y="61709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8958786" y="2666848"/>
            <a:ext cx="370132" cy="5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287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905330" y="3736029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RoomController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05330" y="4302176"/>
            <a:ext cx="4477198" cy="146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Availability Check: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Quickly identifies vacant rooms matching criteria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05330" y="5875287"/>
            <a:ext cx="4477198" cy="146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Status Update: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Changes room status between available and occupied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05330" y="7448398"/>
            <a:ext cx="4477198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Search: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Finds rooms by type, price range, or features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037666" y="2983859"/>
            <a:ext cx="5170437" cy="6275489"/>
            <a:chOff x="0" y="0"/>
            <a:chExt cx="6893916" cy="83673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93941" cy="8367268"/>
            </a:xfrm>
            <a:custGeom>
              <a:avLst/>
              <a:gdLst/>
              <a:ahLst/>
              <a:cxnLst/>
              <a:rect r="r" b="b" t="t" l="l"/>
              <a:pathLst>
                <a:path h="8367268" w="6893941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650101" y="0"/>
                  </a:lnTo>
                  <a:cubicBezTo>
                    <a:pt x="6784721" y="0"/>
                    <a:pt x="6893941" y="109220"/>
                    <a:pt x="6893941" y="243840"/>
                  </a:cubicBezTo>
                  <a:lnTo>
                    <a:pt x="6893941" y="8123428"/>
                  </a:lnTo>
                  <a:cubicBezTo>
                    <a:pt x="6893941" y="8258048"/>
                    <a:pt x="6784721" y="8367268"/>
                    <a:pt x="6650101" y="8367268"/>
                  </a:cubicBezTo>
                  <a:lnTo>
                    <a:pt x="243840" y="8367268"/>
                  </a:lnTo>
                  <a:cubicBezTo>
                    <a:pt x="109220" y="8367268"/>
                    <a:pt x="0" y="8258048"/>
                    <a:pt x="0" y="8123428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037666" y="2945759"/>
            <a:ext cx="5170437" cy="152400"/>
            <a:chOff x="0" y="0"/>
            <a:chExt cx="6893916" cy="203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93940" cy="203200"/>
            </a:xfrm>
            <a:custGeom>
              <a:avLst/>
              <a:gdLst/>
              <a:ahLst/>
              <a:cxnLst/>
              <a:rect r="r" b="b" t="t" l="l"/>
              <a:pathLst>
                <a:path h="203200" w="6893940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6832219" y="0"/>
                  </a:lnTo>
                  <a:cubicBezTo>
                    <a:pt x="6866255" y="0"/>
                    <a:pt x="6893940" y="27686"/>
                    <a:pt x="6893940" y="61722"/>
                  </a:cubicBezTo>
                  <a:lnTo>
                    <a:pt x="6893940" y="141478"/>
                  </a:lnTo>
                  <a:cubicBezTo>
                    <a:pt x="6893940" y="175514"/>
                    <a:pt x="6866255" y="203200"/>
                    <a:pt x="6832219" y="203200"/>
                  </a:cubicBezTo>
                  <a:lnTo>
                    <a:pt x="61722" y="203200"/>
                  </a:lnTo>
                  <a:cubicBezTo>
                    <a:pt x="27686" y="203200"/>
                    <a:pt x="0" y="175514"/>
                    <a:pt x="0" y="1414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160027" y="2521153"/>
            <a:ext cx="925563" cy="925563"/>
            <a:chOff x="0" y="0"/>
            <a:chExt cx="1234084" cy="123408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34059" cy="1234059"/>
            </a:xfrm>
            <a:custGeom>
              <a:avLst/>
              <a:gdLst/>
              <a:ahLst/>
              <a:cxnLst/>
              <a:rect r="r" b="b" t="t" l="l"/>
              <a:pathLst>
                <a:path h="1234059" w="1234059">
                  <a:moveTo>
                    <a:pt x="0" y="617093"/>
                  </a:moveTo>
                  <a:cubicBezTo>
                    <a:pt x="0" y="276225"/>
                    <a:pt x="276225" y="0"/>
                    <a:pt x="617093" y="0"/>
                  </a:cubicBezTo>
                  <a:cubicBezTo>
                    <a:pt x="957961" y="0"/>
                    <a:pt x="1234059" y="276225"/>
                    <a:pt x="1234059" y="617093"/>
                  </a:cubicBezTo>
                  <a:cubicBezTo>
                    <a:pt x="1234059" y="957961"/>
                    <a:pt x="957834" y="1234059"/>
                    <a:pt x="617093" y="1234059"/>
                  </a:cubicBezTo>
                  <a:cubicBezTo>
                    <a:pt x="276352" y="1234059"/>
                    <a:pt x="0" y="957834"/>
                    <a:pt x="0" y="61709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4437738" y="2666848"/>
            <a:ext cx="370132" cy="5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287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384291" y="3736029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GuestController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84291" y="4302176"/>
            <a:ext cx="4477198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Data Management: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CRUD operations for guest information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384291" y="5412581"/>
            <a:ext cx="4477198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Search &amp; Update: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Locate guests by name or ID and update details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384291" y="6522987"/>
            <a:ext cx="4477198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History: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Maintains booking history for returning guests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47762" y="736997"/>
            <a:ext cx="5794324" cy="73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87"/>
              </a:lnSpc>
            </a:pPr>
            <a:r>
              <a:rPr lang="en-US" sz="456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Process 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7762" y="1892056"/>
            <a:ext cx="1274712" cy="1529658"/>
            <a:chOff x="0" y="0"/>
            <a:chExt cx="1699616" cy="2039544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699641" cy="2039493"/>
            </a:xfrm>
            <a:custGeom>
              <a:avLst/>
              <a:gdLst/>
              <a:ahLst/>
              <a:cxnLst/>
              <a:rect r="r" b="b" t="t" l="l"/>
              <a:pathLst>
                <a:path h="2039493" w="1699641">
                  <a:moveTo>
                    <a:pt x="0" y="0"/>
                  </a:moveTo>
                  <a:lnTo>
                    <a:pt x="1699641" y="0"/>
                  </a:lnTo>
                  <a:lnTo>
                    <a:pt x="1699641" y="2039493"/>
                  </a:lnTo>
                  <a:lnTo>
                    <a:pt x="0" y="2039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2" r="1" b="-64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633072" y="2127942"/>
            <a:ext cx="2897086" cy="381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Input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33072" y="2606878"/>
            <a:ext cx="14507166" cy="377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Guest enters booking details through console menu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47762" y="3421704"/>
            <a:ext cx="1274712" cy="1529658"/>
            <a:chOff x="0" y="0"/>
            <a:chExt cx="1699616" cy="2039544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699641" cy="2039493"/>
            </a:xfrm>
            <a:custGeom>
              <a:avLst/>
              <a:gdLst/>
              <a:ahLst/>
              <a:cxnLst/>
              <a:rect r="r" b="b" t="t" l="l"/>
              <a:pathLst>
                <a:path h="2039493" w="1699641">
                  <a:moveTo>
                    <a:pt x="0" y="0"/>
                  </a:moveTo>
                  <a:lnTo>
                    <a:pt x="1699641" y="0"/>
                  </a:lnTo>
                  <a:lnTo>
                    <a:pt x="1699641" y="2039493"/>
                  </a:lnTo>
                  <a:lnTo>
                    <a:pt x="0" y="2039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2" r="1" b="-6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633072" y="3657600"/>
            <a:ext cx="2897086" cy="381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33072" y="4136527"/>
            <a:ext cx="14507166" cy="377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System validates guest credentials and room availability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47762" y="4951362"/>
            <a:ext cx="1274712" cy="1529658"/>
            <a:chOff x="0" y="0"/>
            <a:chExt cx="1699616" cy="2039544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699641" cy="2039493"/>
            </a:xfrm>
            <a:custGeom>
              <a:avLst/>
              <a:gdLst/>
              <a:ahLst/>
              <a:cxnLst/>
              <a:rect r="r" b="b" t="t" l="l"/>
              <a:pathLst>
                <a:path h="2039493" w="1699641">
                  <a:moveTo>
                    <a:pt x="0" y="0"/>
                  </a:moveTo>
                  <a:lnTo>
                    <a:pt x="1699641" y="0"/>
                  </a:lnTo>
                  <a:lnTo>
                    <a:pt x="1699641" y="2039493"/>
                  </a:lnTo>
                  <a:lnTo>
                    <a:pt x="0" y="2039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2" r="1" b="-64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2633072" y="5187258"/>
            <a:ext cx="2897086" cy="381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Calculation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33072" y="5666184"/>
            <a:ext cx="14507166" cy="377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BookingController computes total cost based on duration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47762" y="6481020"/>
            <a:ext cx="1274712" cy="1529658"/>
            <a:chOff x="0" y="0"/>
            <a:chExt cx="1699616" cy="2039544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699641" cy="2039493"/>
            </a:xfrm>
            <a:custGeom>
              <a:avLst/>
              <a:gdLst/>
              <a:ahLst/>
              <a:cxnLst/>
              <a:rect r="r" b="b" t="t" l="l"/>
              <a:pathLst>
                <a:path h="2039493" w="1699641">
                  <a:moveTo>
                    <a:pt x="0" y="0"/>
                  </a:moveTo>
                  <a:lnTo>
                    <a:pt x="1699641" y="0"/>
                  </a:lnTo>
                  <a:lnTo>
                    <a:pt x="1699641" y="2039493"/>
                  </a:lnTo>
                  <a:lnTo>
                    <a:pt x="0" y="2039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62" r="1" b="-64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633072" y="6716916"/>
            <a:ext cx="2897086" cy="381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Storage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33072" y="7195842"/>
            <a:ext cx="14507166" cy="377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Stores booking record and updates room status in CSV files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47762" y="8010677"/>
            <a:ext cx="1274712" cy="1529658"/>
            <a:chOff x="0" y="0"/>
            <a:chExt cx="1699616" cy="2039544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699641" cy="2039493"/>
            </a:xfrm>
            <a:custGeom>
              <a:avLst/>
              <a:gdLst/>
              <a:ahLst/>
              <a:cxnLst/>
              <a:rect r="r" b="b" t="t" l="l"/>
              <a:pathLst>
                <a:path h="2039493" w="1699641">
                  <a:moveTo>
                    <a:pt x="0" y="0"/>
                  </a:moveTo>
                  <a:lnTo>
                    <a:pt x="1699641" y="0"/>
                  </a:lnTo>
                  <a:lnTo>
                    <a:pt x="1699641" y="2039493"/>
                  </a:lnTo>
                  <a:lnTo>
                    <a:pt x="0" y="2039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62" r="1" b="-64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2633072" y="8246564"/>
            <a:ext cx="2897086" cy="381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Confirmation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33072" y="8725491"/>
            <a:ext cx="14507166" cy="377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Returns booking details and receipt to user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1354036"/>
            <a:ext cx="8401641" cy="90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OOP Concepts Applied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1079744" y="2876255"/>
            <a:ext cx="771230" cy="771230"/>
          </a:xfrm>
          <a:custGeom>
            <a:avLst/>
            <a:gdLst/>
            <a:ahLst/>
            <a:cxnLst/>
            <a:rect r="r" b="b" t="t" l="l"/>
            <a:pathLst>
              <a:path h="771230" w="771230">
                <a:moveTo>
                  <a:pt x="0" y="0"/>
                </a:moveTo>
                <a:lnTo>
                  <a:pt x="771230" y="0"/>
                </a:lnTo>
                <a:lnTo>
                  <a:pt x="771230" y="771229"/>
                </a:lnTo>
                <a:lnTo>
                  <a:pt x="0" y="7712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617" r="0" b="-61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79744" y="4014045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Encapsulation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9744" y="4580182"/>
            <a:ext cx="7871374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Store classes protect data using private fields and provide controlled access through methods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336729" y="2876255"/>
            <a:ext cx="771230" cy="771230"/>
          </a:xfrm>
          <a:custGeom>
            <a:avLst/>
            <a:gdLst/>
            <a:ahLst/>
            <a:cxnLst/>
            <a:rect r="r" b="b" t="t" l="l"/>
            <a:pathLst>
              <a:path h="771230" w="771230">
                <a:moveTo>
                  <a:pt x="0" y="0"/>
                </a:moveTo>
                <a:lnTo>
                  <a:pt x="771230" y="0"/>
                </a:lnTo>
                <a:lnTo>
                  <a:pt x="771230" y="771229"/>
                </a:lnTo>
                <a:lnTo>
                  <a:pt x="0" y="7712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8518" r="0" b="-1851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336729" y="4014045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Abstraction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36729" y="4580182"/>
            <a:ext cx="7871517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Controllers hide complex implementation details, exposing simple interfaces for common operations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079744" y="6198841"/>
            <a:ext cx="771230" cy="771230"/>
          </a:xfrm>
          <a:custGeom>
            <a:avLst/>
            <a:gdLst/>
            <a:ahLst/>
            <a:cxnLst/>
            <a:rect r="r" b="b" t="t" l="l"/>
            <a:pathLst>
              <a:path h="771230" w="771230">
                <a:moveTo>
                  <a:pt x="0" y="0"/>
                </a:moveTo>
                <a:lnTo>
                  <a:pt x="771230" y="0"/>
                </a:lnTo>
                <a:lnTo>
                  <a:pt x="771230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3086" r="0" b="-3086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79744" y="7336631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Composition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9744" y="7902778"/>
            <a:ext cx="7871374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Controllers use other controllers (e.g., BookingController uses RoomController and GuestController)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336729" y="6198841"/>
            <a:ext cx="771230" cy="771230"/>
          </a:xfrm>
          <a:custGeom>
            <a:avLst/>
            <a:gdLst/>
            <a:ahLst/>
            <a:cxnLst/>
            <a:rect r="r" b="b" t="t" l="l"/>
            <a:pathLst>
              <a:path h="771230" w="771230">
                <a:moveTo>
                  <a:pt x="0" y="0"/>
                </a:moveTo>
                <a:lnTo>
                  <a:pt x="771230" y="0"/>
                </a:lnTo>
                <a:lnTo>
                  <a:pt x="771230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962" r="0" b="-1296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336729" y="7336631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Polymorphism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36729" y="7902778"/>
            <a:ext cx="7871517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Flexible data handling methods accept different parameter types and return varied results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1858" y="816321"/>
            <a:ext cx="9791700" cy="90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12"/>
              </a:lnSpc>
            </a:pPr>
            <a:r>
              <a:rPr lang="en-US" sz="5437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 &amp; Future 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1858" y="2474862"/>
            <a:ext cx="4176417" cy="531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1858" y="3243558"/>
            <a:ext cx="7698581" cy="52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This project demonstrates: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1858" y="3974754"/>
            <a:ext cx="7698581" cy="2216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180" indent="-179090" lvl="1">
              <a:lnSpc>
                <a:spcPts val="3562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Efficient and modular system design</a:t>
            </a:r>
          </a:p>
          <a:p>
            <a:pPr algn="l" marL="358180" indent="-179090" lvl="1">
              <a:lnSpc>
                <a:spcPts val="3562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Real-world application of OOP principles</a:t>
            </a:r>
          </a:p>
          <a:p>
            <a:pPr algn="l" marL="358180" indent="-179090" lvl="1">
              <a:lnSpc>
                <a:spcPts val="3562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Practical problem-solving skills</a:t>
            </a:r>
          </a:p>
          <a:p>
            <a:pPr algn="l" marL="358180" indent="-179090" lvl="1">
              <a:lnSpc>
                <a:spcPts val="3562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Clean code organization and maintainability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7086" y="2474862"/>
            <a:ext cx="4781702" cy="531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Improvements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7086" y="3243558"/>
            <a:ext cx="7698581" cy="334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180" indent="-179090" lvl="1">
              <a:lnSpc>
                <a:spcPts val="3562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Database integration (SQL)</a:t>
            </a:r>
          </a:p>
          <a:p>
            <a:pPr algn="l" marL="358180" indent="-179090" lvl="1">
              <a:lnSpc>
                <a:spcPts val="3562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Graphical User Interface (GUI)</a:t>
            </a:r>
          </a:p>
          <a:p>
            <a:pPr algn="l" marL="358180" indent="-179090" lvl="1">
              <a:lnSpc>
                <a:spcPts val="3562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Online booking portal</a:t>
            </a:r>
          </a:p>
          <a:p>
            <a:pPr algn="l" marL="358180" indent="-179090" lvl="1">
              <a:lnSpc>
                <a:spcPts val="3562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Payment gateway integration</a:t>
            </a:r>
          </a:p>
          <a:p>
            <a:pPr algn="l" marL="358180" indent="-179090" lvl="1">
              <a:lnSpc>
                <a:spcPts val="3562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Multi-user access with roles</a:t>
            </a:r>
          </a:p>
          <a:p>
            <a:pPr algn="l" marL="358180" indent="-179090" lvl="1">
              <a:lnSpc>
                <a:spcPts val="3562"/>
              </a:lnSpc>
              <a:buFont typeface="Arial"/>
              <a:buChar char="•"/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Reporting and analytics dashboard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71858" y="7188765"/>
            <a:ext cx="16144284" cy="47777"/>
            <a:chOff x="0" y="0"/>
            <a:chExt cx="21525713" cy="637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525737" cy="63754"/>
            </a:xfrm>
            <a:custGeom>
              <a:avLst/>
              <a:gdLst/>
              <a:ahLst/>
              <a:cxnLst/>
              <a:rect r="r" b="b" t="t" l="l"/>
              <a:pathLst>
                <a:path h="63754" w="21525737">
                  <a:moveTo>
                    <a:pt x="0" y="0"/>
                  </a:moveTo>
                  <a:lnTo>
                    <a:pt x="21525737" y="0"/>
                  </a:lnTo>
                  <a:lnTo>
                    <a:pt x="21525737" y="63754"/>
                  </a:lnTo>
                  <a:lnTo>
                    <a:pt x="0" y="63754"/>
                  </a:lnTo>
                  <a:close/>
                </a:path>
              </a:pathLst>
            </a:custGeom>
            <a:solidFill>
              <a:srgbClr val="E2E6E9">
                <a:alpha val="24706"/>
              </a:srgbClr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71858" y="7635326"/>
            <a:ext cx="13921378" cy="1797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87"/>
              </a:lnSpc>
            </a:pPr>
            <a:r>
              <a:rPr lang="en-US" sz="10937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DAHFVspCCXM</dc:identifier>
  <dcterms:modified xsi:type="dcterms:W3CDTF">2011-08-01T06:04:30Z</dcterms:modified>
  <cp:revision>1</cp:revision>
  <dc:title>DOC-20260329-WA0028..pptx</dc:title>
</cp:coreProperties>
</file>